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72235248-9751-4707-392A-77A4DF83857C}">
          <p14:sldIdLst>
            <p14:sldId id="256"/>
            <p14:sldId id="257"/>
          </p14:sldIdLst>
        </p14:section>
        <p14:section name="Prompts utilizados" id="{654B08C6-F3A3-EE37-EDFF-938B5CE733E8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Evidencias" id="{22D465AC-8170-1696-9176-5AE3DC29AB7A}">
          <p14:sldIdLst>
            <p14:sldId id="265"/>
            <p14:sldId id="266"/>
          </p14:sldIdLst>
        </p14:section>
        <p14:section name="Cierre" id="{F1703839-50F0-6C5B-850E-BB9CFCC82EEF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8090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equipo y del proyecto: un menú de restaurante en HTML, CSS y JavaScript sin librerías, cuyo objetivo es investigar y demostrar DOM Traversing. Cada integrante tuvo un rol y un prompt específico.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 Traversing es recorrer el árbol de nodos. En el proyecto lo aplicamos con closest() para subir del botón a su tarjeta y con querySelector() para bajar dentro de la tarjeta, todo desde un único listener delegado en #menu-app.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 se escribió un prompt compartido que funciona como contrato del proyecto. Luego cada integrante usó un prompt específico para su parte, en orden: HTML y CSS, CRUD, pedido e integración, y finalmente QA y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prompt compartido le dio a la IA el mismo contexto para todos: quiénes somos, qué archivos se permiten, qué no se puede usar y qué debe hacer el menú. Esto evitó que cada parte se construyera con reglas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prompt de HTML y CSS se limitó a index.html y style.css, con reglas de accesibilidad y la condición de que toda la interfaz estuviera dentro de #menu-app para que luego funcionara la delegación de eventos.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prompt del CRUD pidió implementar las cinco funciones del contrato dentro de la región del compañero 2 en script.js, construyendo nodos de forma segura y entregando por etapas para poder probar cada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integrar, el CRUD no funcionaba con nuestro HTML. Con un prompt de diagnóstico listamos los síntomas, la IA confirmó la causa raíz (el script apuntaba a un commit previo) y aplicó la corrección: tarjetas .plato, delegación con closest y validación estricta.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parte de pedido conectó todo: un solo listener delegado en #menu-app que usa closest para identificar el botón y la tarjeta, y agregarAlPedido que copia los datos en una línea nueva por cada clic.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continuación se pidió conservar el trabajo existente y corregir cuatro problemas concretos antes de integrar en develop, probando el flujo completo y registrando solo pruebas realmente ejecutadas.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 del resultado: la aplicación «La Mesa» permite registrar un plato con nombre y precio, lo muestra como tarjeta en el menú y ofrece las acciones Pedir, Editar y Eliminar.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edición en línea transforma la tarjeta en un formulario con Guardar y Cancelar. Se conserva el foco visible y el pedido no cambia al editar, tal como pedía el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principales retos fueron técnicos y de coordinación: integrar el trabajo de cuatro personas en un mismo archivo y corregir incompatibilidades. Aprendimos que un prompt compartido bien definido, entregas por etapas y la verificación de lo que produce la IA son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espacio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9880" y="0"/>
            <a:ext cx="685800" cy="1097280"/>
          </a:xfrm>
          <a:prstGeom prst="rect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9880" y="0"/>
            <a:ext cx="685800" cy="1097280"/>
          </a:xfrm>
          <a:prstGeom prst="rect">
            <a:avLst/>
          </a:prstGeom>
          <a:solidFill>
            <a:srgbClr val="B3161B"/>
          </a:solidFill>
          <a:ln/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29184"/>
            <a:ext cx="96012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566928"/>
            <a:ext cx="6858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566928"/>
            <a:ext cx="6858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4300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ED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FRONT 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 de</a:t>
            </a:r>
            <a:endParaRPr lang="en-US" sz="5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Restaurante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Traversing aplicado con HTML, CSS y JavaScript puro, construido con apoyo de prompts de IA.</a:t>
            </a:r>
            <a:endParaRPr lang="en-US" sz="1700" dirty="0"/>
          </a:p>
        </p:txBody>
      </p:sp>
      <p:sp>
        <p:nvSpPr>
          <p:cNvPr id="5" name="integrante"/>
          <p:cNvSpPr/>
          <p:nvPr/>
        </p:nvSpPr>
        <p:spPr>
          <a:xfrm>
            <a:off x="548640" y="4206240"/>
            <a:ext cx="2834640" cy="932688"/>
          </a:xfrm>
          <a:prstGeom prst="roundRect">
            <a:avLst>
              <a:gd name="adj" fmla="val 1176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6FA9A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icono"/>
          <p:cNvSpPr/>
          <p:nvPr/>
        </p:nvSpPr>
        <p:spPr>
          <a:xfrm>
            <a:off x="713232" y="4398264"/>
            <a:ext cx="548640" cy="54864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6" y="4529938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4297680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Pino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8ED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y CSS</a:t>
            </a:r>
            <a:endParaRPr lang="en-US" sz="1500" dirty="0"/>
          </a:p>
        </p:txBody>
      </p:sp>
      <p:sp>
        <p:nvSpPr>
          <p:cNvPr id="9" name="integrante"/>
          <p:cNvSpPr/>
          <p:nvPr/>
        </p:nvSpPr>
        <p:spPr>
          <a:xfrm>
            <a:off x="3520440" y="4206240"/>
            <a:ext cx="2834640" cy="932688"/>
          </a:xfrm>
          <a:prstGeom prst="roundRect">
            <a:avLst>
              <a:gd name="adj" fmla="val 1176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6FA9A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icono"/>
          <p:cNvSpPr/>
          <p:nvPr/>
        </p:nvSpPr>
        <p:spPr>
          <a:xfrm>
            <a:off x="3685032" y="4398264"/>
            <a:ext cx="548640" cy="54864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706" y="4529938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89120" y="4297680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Serna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8ED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e integración de script.js</a:t>
            </a:r>
            <a:endParaRPr lang="en-US" sz="1500" dirty="0"/>
          </a:p>
        </p:txBody>
      </p:sp>
      <p:sp>
        <p:nvSpPr>
          <p:cNvPr id="13" name="integrante"/>
          <p:cNvSpPr/>
          <p:nvPr/>
        </p:nvSpPr>
        <p:spPr>
          <a:xfrm>
            <a:off x="548640" y="5303520"/>
            <a:ext cx="2834640" cy="932688"/>
          </a:xfrm>
          <a:prstGeom prst="roundRect">
            <a:avLst>
              <a:gd name="adj" fmla="val 1176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6FA9A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icono"/>
          <p:cNvSpPr/>
          <p:nvPr/>
        </p:nvSpPr>
        <p:spPr>
          <a:xfrm>
            <a:off x="713232" y="5495544"/>
            <a:ext cx="548640" cy="54864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ico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6" y="5627218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5394960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 García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8ED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script.js</a:t>
            </a:r>
            <a:endParaRPr lang="en-US" sz="1500" dirty="0"/>
          </a:p>
        </p:txBody>
      </p:sp>
      <p:sp>
        <p:nvSpPr>
          <p:cNvPr id="17" name="integrante"/>
          <p:cNvSpPr/>
          <p:nvPr/>
        </p:nvSpPr>
        <p:spPr>
          <a:xfrm>
            <a:off x="3520440" y="5303520"/>
            <a:ext cx="2834640" cy="932688"/>
          </a:xfrm>
          <a:prstGeom prst="roundRect">
            <a:avLst>
              <a:gd name="adj" fmla="val 1176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6FA9A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icono"/>
          <p:cNvSpPr/>
          <p:nvPr/>
        </p:nvSpPr>
        <p:spPr>
          <a:xfrm>
            <a:off x="3685032" y="5495544"/>
            <a:ext cx="548640" cy="54864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9" name="Image 3" descr="icon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6706" y="5627218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389120" y="5394960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Tabares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8ED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y evidencia</a:t>
            </a:r>
            <a:endParaRPr lang="en-US" sz="1500" dirty="0"/>
          </a:p>
        </p:txBody>
      </p:sp>
      <p:sp>
        <p:nvSpPr>
          <p:cNvPr id="21" name="marco captura"/>
          <p:cNvSpPr/>
          <p:nvPr/>
        </p:nvSpPr>
        <p:spPr>
          <a:xfrm>
            <a:off x="6638544" y="1517904"/>
            <a:ext cx="5056632" cy="3658331"/>
          </a:xfrm>
          <a:prstGeom prst="roundRect">
            <a:avLst>
              <a:gd name="adj" fmla="val 2000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2" name="captura" descr="Captur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1600200"/>
            <a:ext cx="4892040" cy="349373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720840" y="5276819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D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final de la aplicación «La Mesa»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291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DOM Traversing y cómo funciona?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120640" cy="2057400"/>
          </a:xfrm>
          <a:prstGeom prst="roundRect">
            <a:avLst>
              <a:gd name="adj" fmla="val 5333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icono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20244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551176"/>
            <a:ext cx="4718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proceso de recorrer los elementos del DOM (padres, hijos y hermanos) para revisarlos, buscarlos o mostrarlos uno por uno.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393192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icono"/>
          <p:cNvSpPr/>
          <p:nvPr/>
        </p:nvSpPr>
        <p:spPr>
          <a:xfrm>
            <a:off x="749808" y="4133088"/>
            <a:ext cx="548640" cy="54864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426476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413308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aplica?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4791456"/>
            <a:ext cx="4718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necesitamos recorrer elementos para buscar, mostrar, revisar o contar información. En nuestro menú: encontrar la tarjeta del plato en la que se hizo clic y leer su nombre y precio.</a:t>
            </a:r>
            <a:endParaRPr lang="en-US" sz="1500" dirty="0"/>
          </a:p>
        </p:txBody>
      </p:sp>
      <p:sp>
        <p:nvSpPr>
          <p:cNvPr id="14" name="diagrama DOM"/>
          <p:cNvSpPr/>
          <p:nvPr/>
        </p:nvSpPr>
        <p:spPr>
          <a:xfrm>
            <a:off x="6035040" y="1691640"/>
            <a:ext cx="5605272" cy="4572000"/>
          </a:xfrm>
          <a:prstGeom prst="roundRect">
            <a:avLst>
              <a:gd name="adj" fmla="val 2400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 txBox="1"/>
          <p:nvPr/>
        </p:nvSpPr>
        <p:spPr>
          <a:xfrm>
            <a:off x="6309360" y="187452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lo usamos en el menú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837676" y="2907792"/>
            <a:ext cx="0" cy="475488"/>
          </a:xfrm>
          <a:prstGeom prst="line">
            <a:avLst/>
          </a:prstGeom>
          <a:noFill/>
          <a:ln w="15875">
            <a:solidFill>
              <a:srgbClr val="9AA7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3"/>
          <p:cNvSpPr/>
          <p:nvPr/>
        </p:nvSpPr>
        <p:spPr>
          <a:xfrm flipH="1">
            <a:off x="7086600" y="3822192"/>
            <a:ext cx="1751076" cy="548640"/>
          </a:xfrm>
          <a:prstGeom prst="line">
            <a:avLst/>
          </a:prstGeom>
          <a:noFill/>
          <a:ln w="15875">
            <a:solidFill>
              <a:srgbClr val="9AA7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4"/>
          <p:cNvSpPr/>
          <p:nvPr/>
        </p:nvSpPr>
        <p:spPr>
          <a:xfrm>
            <a:off x="8837676" y="3822192"/>
            <a:ext cx="0" cy="548640"/>
          </a:xfrm>
          <a:prstGeom prst="line">
            <a:avLst/>
          </a:prstGeom>
          <a:noFill/>
          <a:ln w="15875">
            <a:solidFill>
              <a:srgbClr val="9AA7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5"/>
          <p:cNvSpPr/>
          <p:nvPr/>
        </p:nvSpPr>
        <p:spPr>
          <a:xfrm>
            <a:off x="8837676" y="3822192"/>
            <a:ext cx="1751076" cy="548640"/>
          </a:xfrm>
          <a:prstGeom prst="line">
            <a:avLst/>
          </a:prstGeom>
          <a:noFill/>
          <a:ln w="15875">
            <a:solidFill>
              <a:srgbClr val="9AA7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nodo DOM"/>
          <p:cNvSpPr/>
          <p:nvPr/>
        </p:nvSpPr>
        <p:spPr>
          <a:xfrm>
            <a:off x="7648956" y="2468880"/>
            <a:ext cx="2377440" cy="438912"/>
          </a:xfrm>
          <a:prstGeom prst="roundRect">
            <a:avLst>
              <a:gd name="adj" fmla="val 20833"/>
            </a:avLst>
          </a:prstGeom>
          <a:solidFill>
            <a:srgbClr val="123F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7"/>
          <p:cNvSpPr txBox="1"/>
          <p:nvPr/>
        </p:nvSpPr>
        <p:spPr>
          <a:xfrm>
            <a:off x="7648956" y="24688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div#menu-app</a:t>
            </a:r>
            <a:endParaRPr lang="en-US" sz="1300" dirty="0"/>
          </a:p>
        </p:txBody>
      </p:sp>
      <p:sp>
        <p:nvSpPr>
          <p:cNvPr id="22" name="nodo DOM"/>
          <p:cNvSpPr/>
          <p:nvPr/>
        </p:nvSpPr>
        <p:spPr>
          <a:xfrm>
            <a:off x="7648956" y="3383280"/>
            <a:ext cx="2377440" cy="438912"/>
          </a:xfrm>
          <a:prstGeom prst="roundRect">
            <a:avLst>
              <a:gd name="adj" fmla="val 20833"/>
            </a:avLst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19"/>
          <p:cNvSpPr txBox="1"/>
          <p:nvPr/>
        </p:nvSpPr>
        <p:spPr>
          <a:xfrm>
            <a:off x="7648956" y="33832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article.plato</a:t>
            </a:r>
            <a:endParaRPr lang="en-US" sz="1300" dirty="0"/>
          </a:p>
        </p:txBody>
      </p:sp>
      <p:sp>
        <p:nvSpPr>
          <p:cNvPr id="24" name="nodo DOM"/>
          <p:cNvSpPr/>
          <p:nvPr/>
        </p:nvSpPr>
        <p:spPr>
          <a:xfrm>
            <a:off x="6263640" y="4370832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4F7F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1"/>
          <p:cNvSpPr txBox="1"/>
          <p:nvPr/>
        </p:nvSpPr>
        <p:spPr>
          <a:xfrm>
            <a:off x="6263640" y="43708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 (nombre)</a:t>
            </a:r>
            <a:endParaRPr lang="en-US" sz="1100" dirty="0"/>
          </a:p>
        </p:txBody>
      </p:sp>
      <p:sp>
        <p:nvSpPr>
          <p:cNvPr id="26" name="nodo DOM"/>
          <p:cNvSpPr/>
          <p:nvPr/>
        </p:nvSpPr>
        <p:spPr>
          <a:xfrm>
            <a:off x="8014716" y="4370832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4F7F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3"/>
          <p:cNvSpPr txBox="1"/>
          <p:nvPr/>
        </p:nvSpPr>
        <p:spPr>
          <a:xfrm>
            <a:off x="8014716" y="43708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(precio)</a:t>
            </a:r>
            <a:endParaRPr lang="en-US" sz="1100" dirty="0"/>
          </a:p>
        </p:txBody>
      </p:sp>
      <p:sp>
        <p:nvSpPr>
          <p:cNvPr id="28" name="nodo DOM"/>
          <p:cNvSpPr/>
          <p:nvPr/>
        </p:nvSpPr>
        <p:spPr>
          <a:xfrm>
            <a:off x="9765792" y="4370832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5"/>
          <p:cNvSpPr txBox="1"/>
          <p:nvPr/>
        </p:nvSpPr>
        <p:spPr>
          <a:xfrm>
            <a:off x="9765792" y="43708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10026396" y="3602736"/>
            <a:ext cx="822960" cy="768096"/>
          </a:xfrm>
          <a:prstGeom prst="line">
            <a:avLst/>
          </a:prstGeom>
          <a:noFill/>
          <a:ln w="28575">
            <a:solidFill>
              <a:srgbClr val="B3161B"/>
            </a:solidFill>
            <a:prstDash val="solid"/>
            <a:head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7"/>
          <p:cNvSpPr/>
          <p:nvPr/>
        </p:nvSpPr>
        <p:spPr>
          <a:xfrm>
            <a:off x="6327648" y="5221224"/>
            <a:ext cx="155448" cy="155448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28"/>
          <p:cNvSpPr txBox="1"/>
          <p:nvPr/>
        </p:nvSpPr>
        <p:spPr>
          <a:xfrm>
            <a:off x="6583680" y="513892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closest(): sube del botón a la tarjeta .plato más cercana.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327648" y="5568696"/>
            <a:ext cx="155448" cy="155448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0"/>
          <p:cNvSpPr txBox="1"/>
          <p:nvPr/>
        </p:nvSpPr>
        <p:spPr>
          <a:xfrm>
            <a:off x="6583680" y="5486400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querySelector(): baja dentro de la tarjeta para leer nombre y precio.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327648" y="5916168"/>
            <a:ext cx="155448" cy="155448"/>
          </a:xfrm>
          <a:prstGeom prst="ellipse">
            <a:avLst/>
          </a:prstGeom>
          <a:solidFill>
            <a:srgbClr val="123F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2"/>
          <p:cNvSpPr txBox="1"/>
          <p:nvPr/>
        </p:nvSpPr>
        <p:spPr>
          <a:xfrm>
            <a:off x="6583680" y="5833872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listener en #menu-app atiende todos los clics (delegación).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566928"/>
            <a:ext cx="6858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291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trabajamos: un prompt por etapa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577340" y="2560320"/>
            <a:ext cx="9034272" cy="0"/>
          </a:xfrm>
          <a:prstGeom prst="line">
            <a:avLst/>
          </a:prstGeom>
          <a:noFill/>
          <a:ln w="25400">
            <a:solidFill>
              <a:srgbClr val="8ED1CF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5" name="icono"/>
          <p:cNvSpPr/>
          <p:nvPr/>
        </p:nvSpPr>
        <p:spPr>
          <a:xfrm>
            <a:off x="1120140" y="2103120"/>
            <a:ext cx="914400" cy="91440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96" y="2322576"/>
            <a:ext cx="475488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78508" y="2039112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16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 txBox="1"/>
          <p:nvPr/>
        </p:nvSpPr>
        <p:spPr>
          <a:xfrm>
            <a:off x="1778508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548640" y="329184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 txBox="1"/>
          <p:nvPr/>
        </p:nvSpPr>
        <p:spPr>
          <a:xfrm>
            <a:off x="713232" y="3474720"/>
            <a:ext cx="1728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compartido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equipo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contexto, reglas y el contrato: IDs, clases y funciones que todos respetan.</a:t>
            </a:r>
            <a:endParaRPr lang="en-US" sz="1700" dirty="0"/>
          </a:p>
        </p:txBody>
      </p:sp>
      <p:sp>
        <p:nvSpPr>
          <p:cNvPr id="11" name="icono"/>
          <p:cNvSpPr/>
          <p:nvPr/>
        </p:nvSpPr>
        <p:spPr>
          <a:xfrm>
            <a:off x="3378708" y="2103120"/>
            <a:ext cx="914400" cy="914400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1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64" y="2322576"/>
            <a:ext cx="475488" cy="4754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37076" y="2039112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16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0"/>
          <p:cNvSpPr txBox="1"/>
          <p:nvPr/>
        </p:nvSpPr>
        <p:spPr>
          <a:xfrm>
            <a:off x="4037076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2807208" y="329184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2"/>
          <p:cNvSpPr txBox="1"/>
          <p:nvPr/>
        </p:nvSpPr>
        <p:spPr>
          <a:xfrm>
            <a:off x="2971800" y="3474720"/>
            <a:ext cx="1728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y CSS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Pino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semántica, estilos adaptables y toda la interfaz dentro de #menu-app.</a:t>
            </a:r>
            <a:endParaRPr lang="en-US" sz="1700" dirty="0"/>
          </a:p>
        </p:txBody>
      </p:sp>
      <p:sp>
        <p:nvSpPr>
          <p:cNvPr id="17" name="icono"/>
          <p:cNvSpPr/>
          <p:nvPr/>
        </p:nvSpPr>
        <p:spPr>
          <a:xfrm>
            <a:off x="5637276" y="2103120"/>
            <a:ext cx="914400" cy="914400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2" descr="ico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732" y="2322576"/>
            <a:ext cx="475488" cy="47548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95644" y="2039112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16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5"/>
          <p:cNvSpPr txBox="1"/>
          <p:nvPr/>
        </p:nvSpPr>
        <p:spPr>
          <a:xfrm>
            <a:off x="6295644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5065776" y="329184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17"/>
          <p:cNvSpPr txBox="1"/>
          <p:nvPr/>
        </p:nvSpPr>
        <p:spPr>
          <a:xfrm>
            <a:off x="5230368" y="3474720"/>
            <a:ext cx="1728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platos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 García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editar, guardar, cancelar y eliminar tarjetas .plato con validación.</a:t>
            </a:r>
            <a:endParaRPr lang="en-US" sz="1700" dirty="0"/>
          </a:p>
        </p:txBody>
      </p:sp>
      <p:sp>
        <p:nvSpPr>
          <p:cNvPr id="23" name="icono"/>
          <p:cNvSpPr/>
          <p:nvPr/>
        </p:nvSpPr>
        <p:spPr>
          <a:xfrm>
            <a:off x="7895844" y="2103120"/>
            <a:ext cx="914400" cy="914400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4" name="Image 3" descr="icon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2322576"/>
            <a:ext cx="475488" cy="47548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554212" y="2039112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16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0"/>
          <p:cNvSpPr txBox="1"/>
          <p:nvPr/>
        </p:nvSpPr>
        <p:spPr>
          <a:xfrm>
            <a:off x="8554212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7324344" y="329184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Text 22"/>
          <p:cNvSpPr txBox="1"/>
          <p:nvPr/>
        </p:nvSpPr>
        <p:spPr>
          <a:xfrm>
            <a:off x="7488936" y="3474720"/>
            <a:ext cx="1728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e integración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Serna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listener delegado, la acción Pedir y el arranque de la app.</a:t>
            </a:r>
            <a:endParaRPr lang="en-US" sz="1700" dirty="0"/>
          </a:p>
        </p:txBody>
      </p:sp>
      <p:sp>
        <p:nvSpPr>
          <p:cNvPr id="29" name="icono"/>
          <p:cNvSpPr/>
          <p:nvPr/>
        </p:nvSpPr>
        <p:spPr>
          <a:xfrm>
            <a:off x="10154412" y="2103120"/>
            <a:ext cx="914400" cy="914400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0" name="Image 4" descr="icon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3868" y="2322576"/>
            <a:ext cx="475488" cy="475488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812780" y="2039112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16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5"/>
          <p:cNvSpPr txBox="1"/>
          <p:nvPr/>
        </p:nvSpPr>
        <p:spPr>
          <a:xfrm>
            <a:off x="1081278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card"/>
          <p:cNvSpPr/>
          <p:nvPr/>
        </p:nvSpPr>
        <p:spPr>
          <a:xfrm>
            <a:off x="9582912" y="329184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Text 27"/>
          <p:cNvSpPr txBox="1"/>
          <p:nvPr/>
        </p:nvSpPr>
        <p:spPr>
          <a:xfrm>
            <a:off x="9747504" y="3474720"/>
            <a:ext cx="1728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y evidencia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Tabares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del flujo completo y capturas del resultado final.</a:t>
            </a:r>
            <a:endParaRPr lang="en-US" sz="17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566928"/>
            <a:ext cx="6858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291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TODO EL EQUIPO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compartido: el contrato del proyecto</a:t>
            </a:r>
            <a:endParaRPr lang="en-US" sz="3600" dirty="0"/>
          </a:p>
        </p:txBody>
      </p:sp>
      <p:sp>
        <p:nvSpPr>
          <p:cNvPr id="4" name="marco captura"/>
          <p:cNvSpPr/>
          <p:nvPr/>
        </p:nvSpPr>
        <p:spPr>
          <a:xfrm>
            <a:off x="557784" y="1746504"/>
            <a:ext cx="4831825" cy="4599432"/>
          </a:xfrm>
          <a:prstGeom prst="roundRect">
            <a:avLst>
              <a:gd name="adj" fmla="val 1590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captura" descr="Prompt comparti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4667233" cy="4434840"/>
          </a:xfrm>
          <a:prstGeom prst="rect">
            <a:avLst/>
          </a:prstGeom>
        </p:spPr>
      </p:pic>
      <p:sp>
        <p:nvSpPr>
          <p:cNvPr id="6" name="etiqueta"/>
          <p:cNvSpPr/>
          <p:nvPr/>
        </p:nvSpPr>
        <p:spPr>
          <a:xfrm>
            <a:off x="749808" y="1563624"/>
            <a:ext cx="1842516" cy="329184"/>
          </a:xfrm>
          <a:prstGeom prst="roundRect">
            <a:avLst>
              <a:gd name="adj" fmla="val 50000"/>
            </a:avLst>
          </a:prstGeom>
          <a:solidFill>
            <a:srgbClr val="B3161B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 txBox="1"/>
          <p:nvPr/>
        </p:nvSpPr>
        <p:spPr>
          <a:xfrm>
            <a:off x="749808" y="1563624"/>
            <a:ext cx="18425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compartido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810233" y="1746504"/>
            <a:ext cx="5830079" cy="1417320"/>
          </a:xfrm>
          <a:prstGeom prst="roundRect">
            <a:avLst>
              <a:gd name="adj" fmla="val 7742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icono"/>
          <p:cNvSpPr/>
          <p:nvPr/>
        </p:nvSpPr>
        <p:spPr>
          <a:xfrm>
            <a:off x="5993113" y="2189988"/>
            <a:ext cx="530352" cy="530352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0" name="Image 1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398" y="2317272"/>
            <a:ext cx="275783" cy="27578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06345" y="1819656"/>
            <a:ext cx="4751087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estudiantes de nivel básico en el Proyecto 2 de Front I, con el objetivo de investigar y demostrar DOM Traversing.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810233" y="3300984"/>
            <a:ext cx="5830079" cy="1417320"/>
          </a:xfrm>
          <a:prstGeom prst="roundRect">
            <a:avLst>
              <a:gd name="adj" fmla="val 7742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icono"/>
          <p:cNvSpPr/>
          <p:nvPr/>
        </p:nvSpPr>
        <p:spPr>
          <a:xfrm>
            <a:off x="5993113" y="3744468"/>
            <a:ext cx="530352" cy="530352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4" name="Image 2" descr="ico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398" y="3871752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06345" y="3374136"/>
            <a:ext cx="4751087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técnicas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index.html, style.css y script.js. Sin librerías, frameworks ni backend; JavaScript clásico cargado con defer.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810233" y="4855464"/>
            <a:ext cx="5830079" cy="1417320"/>
          </a:xfrm>
          <a:prstGeom prst="roundRect">
            <a:avLst>
              <a:gd name="adj" fmla="val 7742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icono"/>
          <p:cNvSpPr/>
          <p:nvPr/>
        </p:nvSpPr>
        <p:spPr>
          <a:xfrm>
            <a:off x="5993113" y="5298948"/>
            <a:ext cx="530352" cy="530352"/>
          </a:xfrm>
          <a:prstGeom prst="ellipse">
            <a:avLst/>
          </a:prstGeom>
          <a:solidFill>
            <a:srgbClr val="123F4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icon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0398" y="5426232"/>
            <a:ext cx="275783" cy="27578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06345" y="4928616"/>
            <a:ext cx="4751087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Platos con nombre y precio: crear, mostrar, editar en línea, guardar, cancelar y eliminar. Cada clic en Pedir agrega una línea nueva al pedido.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566928"/>
            <a:ext cx="6858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291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EMANUEL PINO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y CSS: estructura y diseño</a:t>
            </a:r>
            <a:endParaRPr lang="en-US" sz="3600" dirty="0"/>
          </a:p>
        </p:txBody>
      </p:sp>
      <p:sp>
        <p:nvSpPr>
          <p:cNvPr id="4" name="marco captura"/>
          <p:cNvSpPr/>
          <p:nvPr/>
        </p:nvSpPr>
        <p:spPr>
          <a:xfrm>
            <a:off x="557784" y="1746504"/>
            <a:ext cx="3446875" cy="4599432"/>
          </a:xfrm>
          <a:prstGeom prst="roundRect">
            <a:avLst>
              <a:gd name="adj" fmla="val 2122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captura" descr="Prompt inici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3282283" cy="4434840"/>
          </a:xfrm>
          <a:prstGeom prst="rect">
            <a:avLst/>
          </a:prstGeom>
        </p:spPr>
      </p:pic>
      <p:sp>
        <p:nvSpPr>
          <p:cNvPr id="6" name="etiqueta"/>
          <p:cNvSpPr/>
          <p:nvPr/>
        </p:nvSpPr>
        <p:spPr>
          <a:xfrm>
            <a:off x="749808" y="1563624"/>
            <a:ext cx="1581912" cy="329184"/>
          </a:xfrm>
          <a:prstGeom prst="roundRect">
            <a:avLst>
              <a:gd name="adj" fmla="val 50000"/>
            </a:avLst>
          </a:prstGeom>
          <a:solidFill>
            <a:srgbClr val="B3161B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 txBox="1"/>
          <p:nvPr/>
        </p:nvSpPr>
        <p:spPr>
          <a:xfrm>
            <a:off x="749808" y="1563624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inicial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425283" y="1600200"/>
            <a:ext cx="72150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pide el prompt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4425283" y="2103120"/>
            <a:ext cx="3516075" cy="1572768"/>
          </a:xfrm>
          <a:prstGeom prst="roundRect">
            <a:avLst>
              <a:gd name="adj" fmla="val 6977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icono"/>
          <p:cNvSpPr/>
          <p:nvPr/>
        </p:nvSpPr>
        <p:spPr>
          <a:xfrm>
            <a:off x="4626451" y="2304288"/>
            <a:ext cx="548640" cy="548640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124" y="243596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39683" y="2304288"/>
            <a:ext cx="24005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semántico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26451" y="2962656"/>
            <a:ext cx="31137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semánticas, formulario con labels, listas válidas y foco visible.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24237" y="2103120"/>
            <a:ext cx="3516075" cy="1572768"/>
          </a:xfrm>
          <a:prstGeom prst="roundRect">
            <a:avLst>
              <a:gd name="adj" fmla="val 6977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icono"/>
          <p:cNvSpPr/>
          <p:nvPr/>
        </p:nvSpPr>
        <p:spPr>
          <a:xfrm>
            <a:off x="8325405" y="2304288"/>
            <a:ext cx="548640" cy="54864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ico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079" y="243596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38637" y="2304288"/>
            <a:ext cx="24005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dentro de #menu-app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25405" y="2962656"/>
            <a:ext cx="31137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vive en un solo contenedor para permitir la delegación de eventos.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425283" y="3822192"/>
            <a:ext cx="3516075" cy="1572768"/>
          </a:xfrm>
          <a:prstGeom prst="roundRect">
            <a:avLst>
              <a:gd name="adj" fmla="val 6977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icono"/>
          <p:cNvSpPr/>
          <p:nvPr/>
        </p:nvSpPr>
        <p:spPr>
          <a:xfrm>
            <a:off x="4626451" y="4023360"/>
            <a:ext cx="548640" cy="54864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icon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8124" y="41550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39683" y="4023360"/>
            <a:ext cx="24005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JavaScript inline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4626451" y="4681728"/>
            <a:ext cx="31137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onclick ni listeners en el HTML; se respeta el contrato de IDs y clases.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8124237" y="3822192"/>
            <a:ext cx="3516075" cy="1572768"/>
          </a:xfrm>
          <a:prstGeom prst="roundRect">
            <a:avLst>
              <a:gd name="adj" fmla="val 6977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icono"/>
          <p:cNvSpPr/>
          <p:nvPr/>
        </p:nvSpPr>
        <p:spPr>
          <a:xfrm>
            <a:off x="8325405" y="4023360"/>
            <a:ext cx="548640" cy="548640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icon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7079" y="41550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038637" y="4023360"/>
            <a:ext cx="24005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adaptable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8325405" y="4681728"/>
            <a:ext cx="31137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legibles, probado en pantalla pequeña y con navegación por teclado.</a:t>
            </a:r>
            <a:endParaRPr lang="en-US" sz="1400" dirty="0"/>
          </a:p>
        </p:txBody>
      </p:sp>
      <p:sp>
        <p:nvSpPr>
          <p:cNvPr id="29" name="entregable"/>
          <p:cNvSpPr/>
          <p:nvPr/>
        </p:nvSpPr>
        <p:spPr>
          <a:xfrm>
            <a:off x="4425283" y="5559552"/>
            <a:ext cx="7215029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6FA9A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3"/>
          <p:cNvSpPr txBox="1"/>
          <p:nvPr/>
        </p:nvSpPr>
        <p:spPr>
          <a:xfrm>
            <a:off x="4653883" y="5559552"/>
            <a:ext cx="67578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D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+ árbol sencillo del DOM + lista de comprobación visual y por teclado.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566928"/>
            <a:ext cx="6858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291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DARWIN GARCÍA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de platos: prompt inicial</a:t>
            </a:r>
            <a:endParaRPr lang="en-US" sz="3600" dirty="0"/>
          </a:p>
        </p:txBody>
      </p:sp>
      <p:sp>
        <p:nvSpPr>
          <p:cNvPr id="4" name="marco captura"/>
          <p:cNvSpPr/>
          <p:nvPr/>
        </p:nvSpPr>
        <p:spPr>
          <a:xfrm>
            <a:off x="557784" y="1746504"/>
            <a:ext cx="2760278" cy="4599432"/>
          </a:xfrm>
          <a:prstGeom prst="roundRect">
            <a:avLst>
              <a:gd name="adj" fmla="val 2650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captura" descr="Prompt inici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2595686" cy="4434840"/>
          </a:xfrm>
          <a:prstGeom prst="rect">
            <a:avLst/>
          </a:prstGeom>
        </p:spPr>
      </p:pic>
      <p:sp>
        <p:nvSpPr>
          <p:cNvPr id="6" name="etiqueta"/>
          <p:cNvSpPr/>
          <p:nvPr/>
        </p:nvSpPr>
        <p:spPr>
          <a:xfrm>
            <a:off x="749808" y="1563624"/>
            <a:ext cx="1581912" cy="329184"/>
          </a:xfrm>
          <a:prstGeom prst="roundRect">
            <a:avLst>
              <a:gd name="adj" fmla="val 50000"/>
            </a:avLst>
          </a:prstGeom>
          <a:solidFill>
            <a:srgbClr val="B3161B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 txBox="1"/>
          <p:nvPr/>
        </p:nvSpPr>
        <p:spPr>
          <a:xfrm>
            <a:off x="749808" y="1563624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inicial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38686" y="1600200"/>
            <a:ext cx="7901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cinco funciones del contrato</a:t>
            </a:r>
            <a:endParaRPr lang="en-US" sz="1800" dirty="0"/>
          </a:p>
        </p:txBody>
      </p:sp>
      <p:sp>
        <p:nvSpPr>
          <p:cNvPr id="9" name="funciones"/>
          <p:cNvSpPr/>
          <p:nvPr/>
        </p:nvSpPr>
        <p:spPr>
          <a:xfrm>
            <a:off x="3738686" y="2103120"/>
            <a:ext cx="7901626" cy="2514600"/>
          </a:xfrm>
          <a:prstGeom prst="roundRect">
            <a:avLst>
              <a:gd name="adj" fmla="val 4364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 txBox="1"/>
          <p:nvPr/>
        </p:nvSpPr>
        <p:spPr>
          <a:xfrm>
            <a:off x="3967286" y="22402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crearPlato(nombre, precioCentavos)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899206" y="2240280"/>
            <a:ext cx="351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tarjeta .plato con createElement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67286" y="2697480"/>
            <a:ext cx="7444426" cy="0"/>
          </a:xfrm>
          <a:prstGeom prst="line">
            <a:avLst/>
          </a:prstGeom>
          <a:noFill/>
          <a:ln w="9525">
            <a:solidFill>
              <a:srgbClr val="E9E1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 txBox="1"/>
          <p:nvPr/>
        </p:nvSpPr>
        <p:spPr>
          <a:xfrm>
            <a:off x="3967286" y="26974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iniciarEdicion(tarjeta)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99206" y="2697480"/>
            <a:ext cx="351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la tarjeta en campos editables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967286" y="3154680"/>
            <a:ext cx="7444426" cy="0"/>
          </a:xfrm>
          <a:prstGeom prst="line">
            <a:avLst/>
          </a:prstGeom>
          <a:noFill/>
          <a:ln w="9525">
            <a:solidFill>
              <a:srgbClr val="E9E1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 txBox="1"/>
          <p:nvPr/>
        </p:nvSpPr>
        <p:spPr>
          <a:xfrm>
            <a:off x="3967286" y="31546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guardarEdicion(tarjeta)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899206" y="3154680"/>
            <a:ext cx="351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y aplica los cambios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967286" y="3611880"/>
            <a:ext cx="7444426" cy="0"/>
          </a:xfrm>
          <a:prstGeom prst="line">
            <a:avLst/>
          </a:prstGeom>
          <a:noFill/>
          <a:ln w="9525">
            <a:solidFill>
              <a:srgbClr val="E9E1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 txBox="1"/>
          <p:nvPr/>
        </p:nvSpPr>
        <p:spPr>
          <a:xfrm>
            <a:off x="3967286" y="36118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cancelarEdicion(tarjeta)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899206" y="3611880"/>
            <a:ext cx="351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 los datos originales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967286" y="4069080"/>
            <a:ext cx="7444426" cy="0"/>
          </a:xfrm>
          <a:prstGeom prst="line">
            <a:avLst/>
          </a:prstGeom>
          <a:noFill/>
          <a:ln w="9525">
            <a:solidFill>
              <a:srgbClr val="E9E1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 txBox="1"/>
          <p:nvPr/>
        </p:nvSpPr>
        <p:spPr>
          <a:xfrm>
            <a:off x="3967286" y="40690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eliminarPlato(tarjeta)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899206" y="4069080"/>
            <a:ext cx="351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 la tarjeta del menú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3738686" y="4800600"/>
            <a:ext cx="2511955" cy="1508760"/>
          </a:xfrm>
          <a:prstGeom prst="roundRect">
            <a:avLst>
              <a:gd name="adj" fmla="val 7273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icono"/>
          <p:cNvSpPr/>
          <p:nvPr/>
        </p:nvSpPr>
        <p:spPr>
          <a:xfrm>
            <a:off x="3939854" y="5001768"/>
            <a:ext cx="548640" cy="548640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1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527" y="5133442"/>
            <a:ext cx="285293" cy="285293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4653086" y="5001768"/>
            <a:ext cx="13963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seguros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3939854" y="5660136"/>
            <a:ext cx="21096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createElement, textContent y value; precio en centavos (dataset).</a:t>
            </a:r>
            <a:endParaRPr lang="en-US" sz="1250" dirty="0"/>
          </a:p>
        </p:txBody>
      </p:sp>
      <p:sp>
        <p:nvSpPr>
          <p:cNvPr id="29" name="card"/>
          <p:cNvSpPr/>
          <p:nvPr/>
        </p:nvSpPr>
        <p:spPr>
          <a:xfrm>
            <a:off x="6433521" y="4800600"/>
            <a:ext cx="2511955" cy="1508760"/>
          </a:xfrm>
          <a:prstGeom prst="roundRect">
            <a:avLst>
              <a:gd name="adj" fmla="val 7273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icono"/>
          <p:cNvSpPr/>
          <p:nvPr/>
        </p:nvSpPr>
        <p:spPr>
          <a:xfrm>
            <a:off x="6634689" y="5001768"/>
            <a:ext cx="548640" cy="54864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2" descr="ico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363" y="5133442"/>
            <a:ext cx="285293" cy="285293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347921" y="5001768"/>
            <a:ext cx="13963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acotada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6634689" y="5660136"/>
            <a:ext cx="21096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 solo dentro de la tarjeta; los originales se conservan hasta Guardar.</a:t>
            </a:r>
            <a:endParaRPr lang="en-US" sz="1250" dirty="0"/>
          </a:p>
        </p:txBody>
      </p:sp>
      <p:sp>
        <p:nvSpPr>
          <p:cNvPr id="34" name="card"/>
          <p:cNvSpPr/>
          <p:nvPr/>
        </p:nvSpPr>
        <p:spPr>
          <a:xfrm>
            <a:off x="9128357" y="4800600"/>
            <a:ext cx="2511955" cy="1508760"/>
          </a:xfrm>
          <a:prstGeom prst="roundRect">
            <a:avLst>
              <a:gd name="adj" fmla="val 7273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icono"/>
          <p:cNvSpPr/>
          <p:nvPr/>
        </p:nvSpPr>
        <p:spPr>
          <a:xfrm>
            <a:off x="9329525" y="5001768"/>
            <a:ext cx="548640" cy="548640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3" descr="icon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1198" y="5133442"/>
            <a:ext cx="285293" cy="285293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0042757" y="5001768"/>
            <a:ext cx="13963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por etapas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9329525" y="5660136"/>
            <a:ext cx="21096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Crear/leer → eliminar → editar, guardar y cancelar, con pruebas en cada paso.</a:t>
            </a:r>
            <a:endParaRPr lang="en-US" sz="12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566928"/>
            <a:ext cx="6858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291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PROBLEMA → CAUSA → CORRECCIÓN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Depuración del CRUD con IA</a:t>
            </a:r>
            <a:endParaRPr lang="en-US" sz="3600" dirty="0"/>
          </a:p>
        </p:txBody>
      </p:sp>
      <p:sp>
        <p:nvSpPr>
          <p:cNvPr id="4" name="panel chat"/>
          <p:cNvSpPr/>
          <p:nvPr/>
        </p:nvSpPr>
        <p:spPr>
          <a:xfrm>
            <a:off x="548640" y="1874520"/>
            <a:ext cx="3383280" cy="3429000"/>
          </a:xfrm>
          <a:prstGeom prst="roundRect">
            <a:avLst>
              <a:gd name="adj" fmla="val 2162"/>
            </a:avLst>
          </a:prstGeom>
          <a:solidFill>
            <a:srgbClr val="1F2328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panel chat"/>
          <p:cNvSpPr/>
          <p:nvPr/>
        </p:nvSpPr>
        <p:spPr>
          <a:xfrm>
            <a:off x="4402836" y="1874520"/>
            <a:ext cx="3383280" cy="3429000"/>
          </a:xfrm>
          <a:prstGeom prst="roundRect">
            <a:avLst>
              <a:gd name="adj" fmla="val 2162"/>
            </a:avLst>
          </a:prstGeom>
          <a:solidFill>
            <a:srgbClr val="1F2328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panel chat"/>
          <p:cNvSpPr/>
          <p:nvPr/>
        </p:nvSpPr>
        <p:spPr>
          <a:xfrm>
            <a:off x="8257032" y="1874520"/>
            <a:ext cx="3383280" cy="3429000"/>
          </a:xfrm>
          <a:prstGeom prst="roundRect">
            <a:avLst>
              <a:gd name="adj" fmla="val 2162"/>
            </a:avLst>
          </a:prstGeom>
          <a:solidFill>
            <a:srgbClr val="1F2328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7" name="Image 0" descr="Prompt para encontrar la incompatibilid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6872"/>
            <a:ext cx="3200400" cy="3244296"/>
          </a:xfrm>
          <a:prstGeom prst="rect">
            <a:avLst/>
          </a:prstGeom>
        </p:spPr>
      </p:pic>
      <p:pic>
        <p:nvPicPr>
          <p:cNvPr id="8" name="Image 1" descr="Causa de la incompatibilid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276" y="2103120"/>
            <a:ext cx="3200400" cy="6199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631436" y="29059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D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detectados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31436" y="3271756"/>
            <a:ext cx="2971800" cy="189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inexistentes bloqueaban el arranque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Generaba filas &lt;tr&gt; en vez de tarjetas .plato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Delegación frágil con parentElement.parentElement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aceptaba vacío, espacios, 1.234 e Infinity</a:t>
            </a:r>
            <a:endParaRPr lang="en-US" sz="1300" dirty="0"/>
          </a:p>
        </p:txBody>
      </p:sp>
      <p:pic>
        <p:nvPicPr>
          <p:cNvPr id="11" name="Image 2" descr="Corrección aplicad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394906"/>
            <a:ext cx="3200400" cy="2388227"/>
          </a:xfrm>
          <a:prstGeom prst="rect">
            <a:avLst/>
          </a:prstGeom>
        </p:spPr>
      </p:pic>
      <p:sp>
        <p:nvSpPr>
          <p:cNvPr id="12" name="etiqueta"/>
          <p:cNvSpPr/>
          <p:nvPr/>
        </p:nvSpPr>
        <p:spPr>
          <a:xfrm>
            <a:off x="685800" y="16916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B3161B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8"/>
          <p:cNvSpPr txBox="1"/>
          <p:nvPr/>
        </p:nvSpPr>
        <p:spPr>
          <a:xfrm>
            <a:off x="685800" y="16916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Prompt de diagnóstico</a:t>
            </a:r>
            <a:endParaRPr lang="en-US" sz="1200" dirty="0"/>
          </a:p>
        </p:txBody>
      </p:sp>
      <p:sp>
        <p:nvSpPr>
          <p:cNvPr id="14" name="etiqueta"/>
          <p:cNvSpPr/>
          <p:nvPr/>
        </p:nvSpPr>
        <p:spPr>
          <a:xfrm>
            <a:off x="4539996" y="16916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B3161B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0"/>
          <p:cNvSpPr txBox="1"/>
          <p:nvPr/>
        </p:nvSpPr>
        <p:spPr>
          <a:xfrm>
            <a:off x="4539996" y="16916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Causa raíz</a:t>
            </a:r>
            <a:endParaRPr lang="en-US" sz="1200" dirty="0"/>
          </a:p>
        </p:txBody>
      </p:sp>
      <p:sp>
        <p:nvSpPr>
          <p:cNvPr id="16" name="etiqueta"/>
          <p:cNvSpPr/>
          <p:nvPr/>
        </p:nvSpPr>
        <p:spPr>
          <a:xfrm>
            <a:off x="8394192" y="16916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B3161B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2"/>
          <p:cNvSpPr txBox="1"/>
          <p:nvPr/>
        </p:nvSpPr>
        <p:spPr>
          <a:xfrm>
            <a:off x="8394192" y="16916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Corrección aplicada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966210" y="3387852"/>
            <a:ext cx="402336" cy="40233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9" name="Image 3" descr="siguien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6794" y="3488436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820406" y="3387852"/>
            <a:ext cx="402336" cy="40233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1" name="Image 4" descr="siguien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990" y="348843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8640" y="54681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hacer pull en develop, se pidió a la IA revisar el commit «crud de platos» con todo el contexto.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4402836" y="54681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apuntaba a la estructura de un commit previo, no al HTML real del proyecto.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8257032" y="54681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quedó alineado con index.html y con el contrato de PROMPT_GENERAL.md.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566928"/>
            <a:ext cx="6858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291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JUAN SERNA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Pedido, delegación e integración</a:t>
            </a:r>
            <a:endParaRPr lang="en-US" sz="3600" dirty="0"/>
          </a:p>
        </p:txBody>
      </p:sp>
      <p:sp>
        <p:nvSpPr>
          <p:cNvPr id="4" name="marco captura"/>
          <p:cNvSpPr/>
          <p:nvPr/>
        </p:nvSpPr>
        <p:spPr>
          <a:xfrm>
            <a:off x="557784" y="1746504"/>
            <a:ext cx="2611829" cy="4599432"/>
          </a:xfrm>
          <a:prstGeom prst="roundRect">
            <a:avLst>
              <a:gd name="adj" fmla="val 2801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captura" descr="Prompt inici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2447237" cy="4434840"/>
          </a:xfrm>
          <a:prstGeom prst="rect">
            <a:avLst/>
          </a:prstGeom>
        </p:spPr>
      </p:pic>
      <p:sp>
        <p:nvSpPr>
          <p:cNvPr id="6" name="etiqueta"/>
          <p:cNvSpPr/>
          <p:nvPr/>
        </p:nvSpPr>
        <p:spPr>
          <a:xfrm>
            <a:off x="749808" y="1563624"/>
            <a:ext cx="1581912" cy="329184"/>
          </a:xfrm>
          <a:prstGeom prst="roundRect">
            <a:avLst>
              <a:gd name="adj" fmla="val 50000"/>
            </a:avLst>
          </a:prstGeom>
          <a:solidFill>
            <a:srgbClr val="B3161B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 txBox="1"/>
          <p:nvPr/>
        </p:nvSpPr>
        <p:spPr>
          <a:xfrm>
            <a:off x="749808" y="1563624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inicial</a:t>
            </a:r>
            <a:endParaRPr lang="en-US" sz="1200" dirty="0"/>
          </a:p>
        </p:txBody>
      </p:sp>
      <p:sp>
        <p:nvSpPr>
          <p:cNvPr id="8" name="marco captura"/>
          <p:cNvSpPr/>
          <p:nvPr/>
        </p:nvSpPr>
        <p:spPr>
          <a:xfrm>
            <a:off x="3416501" y="1746504"/>
            <a:ext cx="3182112" cy="2807846"/>
          </a:xfrm>
          <a:prstGeom prst="roundRect">
            <a:avLst>
              <a:gd name="adj" fmla="val 2605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captura" descr="Prompt complementar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797" y="1828800"/>
            <a:ext cx="3017520" cy="2643254"/>
          </a:xfrm>
          <a:prstGeom prst="rect">
            <a:avLst/>
          </a:prstGeom>
        </p:spPr>
      </p:pic>
      <p:sp>
        <p:nvSpPr>
          <p:cNvPr id="10" name="etiqueta"/>
          <p:cNvSpPr/>
          <p:nvPr/>
        </p:nvSpPr>
        <p:spPr>
          <a:xfrm>
            <a:off x="3608525" y="1563624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B3161B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 txBox="1"/>
          <p:nvPr/>
        </p:nvSpPr>
        <p:spPr>
          <a:xfrm>
            <a:off x="3608525" y="15636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complementario</a:t>
            </a:r>
            <a:endParaRPr lang="en-US" sz="1200" dirty="0"/>
          </a:p>
        </p:txBody>
      </p:sp>
      <p:sp>
        <p:nvSpPr>
          <p:cNvPr id="12" name="nota"/>
          <p:cNvSpPr/>
          <p:nvPr/>
        </p:nvSpPr>
        <p:spPr>
          <a:xfrm>
            <a:off x="3416501" y="4746374"/>
            <a:ext cx="3182112" cy="1599562"/>
          </a:xfrm>
          <a:prstGeom prst="roundRect">
            <a:avLst>
              <a:gd name="adj" fmla="val 686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6FA9A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 txBox="1"/>
          <p:nvPr/>
        </p:nvSpPr>
        <p:spPr>
          <a:xfrm>
            <a:off x="3590237" y="4837814"/>
            <a:ext cx="2834640" cy="142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complementario pidió analizar todo el proyecto con la documentación y alinear estrictamente la parte del Compañero 3.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973517" y="1600200"/>
            <a:ext cx="46667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del prompt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6973517" y="2103120"/>
            <a:ext cx="4666795" cy="950976"/>
          </a:xfrm>
          <a:prstGeom prst="roundRect">
            <a:avLst>
              <a:gd name="adj" fmla="val 11538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icono"/>
          <p:cNvSpPr/>
          <p:nvPr/>
        </p:nvSpPr>
        <p:spPr>
          <a:xfrm>
            <a:off x="7156397" y="2313432"/>
            <a:ext cx="530352" cy="530352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2" descr="ico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681" y="2440716"/>
            <a:ext cx="275783" cy="27578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869629" y="2176272"/>
            <a:ext cx="358780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listener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click en #menu-app atiende editar, guardar, cancelar, eliminar y pedir.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6973517" y="3163824"/>
            <a:ext cx="4666795" cy="950976"/>
          </a:xfrm>
          <a:prstGeom prst="roundRect">
            <a:avLst>
              <a:gd name="adj" fmla="val 11538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icono"/>
          <p:cNvSpPr/>
          <p:nvPr/>
        </p:nvSpPr>
        <p:spPr>
          <a:xfrm>
            <a:off x="7156397" y="3374136"/>
            <a:ext cx="530352" cy="530352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icon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681" y="3501420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869629" y="3236976"/>
            <a:ext cx="358780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con closest()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evento.target → closest('button[data-action]') → closest('.plato').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6973517" y="4224528"/>
            <a:ext cx="4666795" cy="950976"/>
          </a:xfrm>
          <a:prstGeom prst="roundRect">
            <a:avLst>
              <a:gd name="adj" fmla="val 11538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icono"/>
          <p:cNvSpPr/>
          <p:nvPr/>
        </p:nvSpPr>
        <p:spPr>
          <a:xfrm>
            <a:off x="7156397" y="4434840"/>
            <a:ext cx="530352" cy="530352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5" name="Image 4" descr="icon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681" y="4562124"/>
            <a:ext cx="275783" cy="27578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869629" y="4297680"/>
            <a:ext cx="358780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como copia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clic crea una línea independiente; editar o eliminar no altera el pedido.</a:t>
            </a:r>
            <a:endParaRPr lang="en-US" sz="1500" dirty="0"/>
          </a:p>
        </p:txBody>
      </p:sp>
      <p:sp>
        <p:nvSpPr>
          <p:cNvPr id="27" name="card"/>
          <p:cNvSpPr/>
          <p:nvPr/>
        </p:nvSpPr>
        <p:spPr>
          <a:xfrm>
            <a:off x="6973517" y="5285232"/>
            <a:ext cx="4666795" cy="950976"/>
          </a:xfrm>
          <a:prstGeom prst="roundRect">
            <a:avLst>
              <a:gd name="adj" fmla="val 11538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icono"/>
          <p:cNvSpPr/>
          <p:nvPr/>
        </p:nvSpPr>
        <p:spPr>
          <a:xfrm>
            <a:off x="7156397" y="5495544"/>
            <a:ext cx="530352" cy="530352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9" name="Image 5" descr="icon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3681" y="5622828"/>
            <a:ext cx="275783" cy="275783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869629" y="5358384"/>
            <a:ext cx="358780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con Enter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en #form-plato con preventDefault; reutiliza la validación y crearPlato().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566928"/>
            <a:ext cx="6858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291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AJUSTES DE INTEGRACIÓN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Continuación: ajustes antes de integrar</a:t>
            </a:r>
            <a:endParaRPr lang="en-US" sz="3600" dirty="0"/>
          </a:p>
        </p:txBody>
      </p:sp>
      <p:sp>
        <p:nvSpPr>
          <p:cNvPr id="4" name="marco captura"/>
          <p:cNvSpPr/>
          <p:nvPr/>
        </p:nvSpPr>
        <p:spPr>
          <a:xfrm>
            <a:off x="557784" y="1746504"/>
            <a:ext cx="4386219" cy="4599432"/>
          </a:xfrm>
          <a:prstGeom prst="roundRect">
            <a:avLst>
              <a:gd name="adj" fmla="val 1668"/>
            </a:avLst>
          </a:prstGeom>
          <a:solidFill>
            <a:srgbClr val="1F2328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captura" descr="Prompt de continuació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4221627" cy="4434840"/>
          </a:xfrm>
          <a:prstGeom prst="rect">
            <a:avLst/>
          </a:prstGeom>
        </p:spPr>
      </p:pic>
      <p:sp>
        <p:nvSpPr>
          <p:cNvPr id="6" name="etiqueta"/>
          <p:cNvSpPr/>
          <p:nvPr/>
        </p:nvSpPr>
        <p:spPr>
          <a:xfrm>
            <a:off x="749808" y="156362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B3161B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 txBox="1"/>
          <p:nvPr/>
        </p:nvSpPr>
        <p:spPr>
          <a:xfrm>
            <a:off x="749808" y="15636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 continuación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318907" y="1746504"/>
            <a:ext cx="3069263" cy="1719072"/>
          </a:xfrm>
          <a:prstGeom prst="roundRect">
            <a:avLst>
              <a:gd name="adj" fmla="val 6383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5520075" y="1947672"/>
            <a:ext cx="457200" cy="45720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 txBox="1"/>
          <p:nvPr/>
        </p:nvSpPr>
        <p:spPr>
          <a:xfrm>
            <a:off x="5520075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096147" y="1947672"/>
            <a:ext cx="21091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la creación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520075" y="2523744"/>
            <a:ext cx="26669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«Agregar plato» seguía en disabled; ahora se habilita al iniciar la app.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571049" y="1746504"/>
            <a:ext cx="3069263" cy="1719072"/>
          </a:xfrm>
          <a:prstGeom prst="roundRect">
            <a:avLst>
              <a:gd name="adj" fmla="val 6383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8772217" y="1947672"/>
            <a:ext cx="457200" cy="45720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 txBox="1"/>
          <p:nvPr/>
        </p:nvSpPr>
        <p:spPr>
          <a:xfrm>
            <a:off x="8772217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348289" y="1947672"/>
            <a:ext cx="21091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centavos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772217" y="2523744"/>
            <a:ext cx="26669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Number.isInteger(n*100) rechazaba 0.29 y 1.10; se convierte el texto a centavos.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5318907" y="3621024"/>
            <a:ext cx="3069263" cy="1719072"/>
          </a:xfrm>
          <a:prstGeom prst="roundRect">
            <a:avLst>
              <a:gd name="adj" fmla="val 6383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5520075" y="3822192"/>
            <a:ext cx="457200" cy="45720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 txBox="1"/>
          <p:nvPr/>
        </p:nvSpPr>
        <p:spPr>
          <a:xfrm>
            <a:off x="5520075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096147" y="3822192"/>
            <a:ext cx="21091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perder datos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520075" y="4398264"/>
            <a:ext cx="26669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 se limpia solo si crearPlato() devuelve una tarjeta válida.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8571049" y="3621024"/>
            <a:ext cx="3069263" cy="1719072"/>
          </a:xfrm>
          <a:prstGeom prst="roundRect">
            <a:avLst>
              <a:gd name="adj" fmla="val 6383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8772217" y="3822192"/>
            <a:ext cx="457200" cy="45720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 txBox="1"/>
          <p:nvPr/>
        </p:nvSpPr>
        <p:spPr>
          <a:xfrm>
            <a:off x="8772217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348289" y="3822192"/>
            <a:ext cx="21091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772217" y="4398264"/>
            <a:ext cx="26669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accesibles en los campos de edición, sin repetir IDs.</a:t>
            </a:r>
            <a:endParaRPr lang="en-US" sz="1300" dirty="0"/>
          </a:p>
        </p:txBody>
      </p:sp>
      <p:sp>
        <p:nvSpPr>
          <p:cNvPr id="28" name="prueba"/>
          <p:cNvSpPr/>
          <p:nvPr/>
        </p:nvSpPr>
        <p:spPr>
          <a:xfrm>
            <a:off x="5318907" y="5559552"/>
            <a:ext cx="6321405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6FA9A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 txBox="1"/>
          <p:nvPr/>
        </p:nvSpPr>
        <p:spPr>
          <a:xfrm>
            <a:off x="5547507" y="5559552"/>
            <a:ext cx="58642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D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completa: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→ editar → pedir → eliminar, con precios válidos e inválidos y lista vacía.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566928"/>
            <a:ext cx="6858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291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QA Y EVIDENCIA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Evidencia: la aplicación funcionando</a:t>
            </a:r>
            <a:endParaRPr lang="en-US" sz="3600" dirty="0"/>
          </a:p>
        </p:txBody>
      </p:sp>
      <p:sp>
        <p:nvSpPr>
          <p:cNvPr id="4" name="marco captura"/>
          <p:cNvSpPr/>
          <p:nvPr/>
        </p:nvSpPr>
        <p:spPr>
          <a:xfrm>
            <a:off x="548640" y="1746504"/>
            <a:ext cx="5513832" cy="3984848"/>
          </a:xfrm>
          <a:prstGeom prst="roundRect">
            <a:avLst>
              <a:gd name="adj" fmla="val 1836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captura" descr="Portada y formular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828800"/>
            <a:ext cx="5349240" cy="3820256"/>
          </a:xfrm>
          <a:prstGeom prst="rect">
            <a:avLst/>
          </a:prstGeom>
        </p:spPr>
      </p:pic>
      <p:sp>
        <p:nvSpPr>
          <p:cNvPr id="6" name="etiqueta"/>
          <p:cNvSpPr/>
          <p:nvPr/>
        </p:nvSpPr>
        <p:spPr>
          <a:xfrm>
            <a:off x="740664" y="156362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B3161B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 txBox="1"/>
          <p:nvPr/>
        </p:nvSpPr>
        <p:spPr>
          <a:xfrm>
            <a:off x="740664" y="15636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Portada y formulario</a:t>
            </a:r>
            <a:endParaRPr lang="en-US" sz="1200" dirty="0"/>
          </a:p>
        </p:txBody>
      </p:sp>
      <p:sp>
        <p:nvSpPr>
          <p:cNvPr id="8" name="marco captura"/>
          <p:cNvSpPr/>
          <p:nvPr/>
        </p:nvSpPr>
        <p:spPr>
          <a:xfrm>
            <a:off x="6208776" y="1746504"/>
            <a:ext cx="5513832" cy="4061449"/>
          </a:xfrm>
          <a:prstGeom prst="roundRect">
            <a:avLst>
              <a:gd name="adj" fmla="val 1801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captura" descr="Menú y pedi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828800"/>
            <a:ext cx="5349240" cy="3896857"/>
          </a:xfrm>
          <a:prstGeom prst="rect">
            <a:avLst/>
          </a:prstGeom>
        </p:spPr>
      </p:pic>
      <p:sp>
        <p:nvSpPr>
          <p:cNvPr id="10" name="etiqueta"/>
          <p:cNvSpPr/>
          <p:nvPr/>
        </p:nvSpPr>
        <p:spPr>
          <a:xfrm>
            <a:off x="6400800" y="156362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B3161B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 txBox="1"/>
          <p:nvPr/>
        </p:nvSpPr>
        <p:spPr>
          <a:xfrm>
            <a:off x="6400800" y="15636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y pedido</a:t>
            </a:r>
            <a:endParaRPr lang="en-US" sz="1200" dirty="0"/>
          </a:p>
        </p:txBody>
      </p:sp>
      <p:pic>
        <p:nvPicPr>
          <p:cNvPr id="12" name="Image 2" descr="verificad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59161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78408" y="5833872"/>
            <a:ext cx="5001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«Un nuevo sabor» y mensaje «Plato agregado correctamente».</a:t>
            </a:r>
            <a:endParaRPr lang="en-US" sz="1300" dirty="0"/>
          </a:p>
        </p:txBody>
      </p:sp>
      <p:pic>
        <p:nvPicPr>
          <p:cNvPr id="14" name="Image 3" descr="verificad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59161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638544" y="5833872"/>
            <a:ext cx="5001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plato aparece en «Nuestro menú» con Pedir, Editar y Eliminar; panel «Tu pedido» a la derecha.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566928"/>
            <a:ext cx="6858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291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QA Y EVIDENCIA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Evidencia: edición en línea</a:t>
            </a:r>
            <a:endParaRPr lang="en-US" sz="3600" dirty="0"/>
          </a:p>
        </p:txBody>
      </p:sp>
      <p:sp>
        <p:nvSpPr>
          <p:cNvPr id="4" name="marco captura"/>
          <p:cNvSpPr/>
          <p:nvPr/>
        </p:nvSpPr>
        <p:spPr>
          <a:xfrm>
            <a:off x="548640" y="1746504"/>
            <a:ext cx="4325112" cy="3894713"/>
          </a:xfrm>
          <a:prstGeom prst="roundRect">
            <a:avLst>
              <a:gd name="adj" fmla="val 1878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captura" descr="Editar pla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828800"/>
            <a:ext cx="4160520" cy="3730121"/>
          </a:xfrm>
          <a:prstGeom prst="rect">
            <a:avLst/>
          </a:prstGeom>
        </p:spPr>
      </p:pic>
      <p:sp>
        <p:nvSpPr>
          <p:cNvPr id="6" name="etiqueta"/>
          <p:cNvSpPr/>
          <p:nvPr/>
        </p:nvSpPr>
        <p:spPr>
          <a:xfrm>
            <a:off x="740664" y="1563624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3161B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 txBox="1"/>
          <p:nvPr/>
        </p:nvSpPr>
        <p:spPr>
          <a:xfrm>
            <a:off x="740664" y="15636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plato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87521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ED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edición de «Pasta boloñesa» con Guardar y Cancelar.</a:t>
            </a:r>
            <a:endParaRPr lang="en-US" sz="1300" dirty="0"/>
          </a:p>
        </p:txBody>
      </p:sp>
      <p:sp>
        <p:nvSpPr>
          <p:cNvPr id="9" name="marco captura"/>
          <p:cNvSpPr/>
          <p:nvPr/>
        </p:nvSpPr>
        <p:spPr>
          <a:xfrm>
            <a:off x="5257800" y="1746504"/>
            <a:ext cx="6382512" cy="2311937"/>
          </a:xfrm>
          <a:prstGeom prst="roundRect">
            <a:avLst>
              <a:gd name="adj" fmla="val 3164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0" name="captura" descr="Edición con foco visi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1828800"/>
            <a:ext cx="6217920" cy="2147345"/>
          </a:xfrm>
          <a:prstGeom prst="rect">
            <a:avLst/>
          </a:prstGeom>
        </p:spPr>
      </p:pic>
      <p:sp>
        <p:nvSpPr>
          <p:cNvPr id="11" name="etiqueta"/>
          <p:cNvSpPr/>
          <p:nvPr/>
        </p:nvSpPr>
        <p:spPr>
          <a:xfrm>
            <a:off x="5449824" y="156362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B3161B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8"/>
          <p:cNvSpPr txBox="1"/>
          <p:nvPr/>
        </p:nvSpPr>
        <p:spPr>
          <a:xfrm>
            <a:off x="5449824" y="15636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con foco visible</a:t>
            </a:r>
            <a:endParaRPr lang="en-US" sz="1200" dirty="0"/>
          </a:p>
        </p:txBody>
      </p:sp>
      <p:sp>
        <p:nvSpPr>
          <p:cNvPr id="13" name="lo que demuestra"/>
          <p:cNvSpPr/>
          <p:nvPr/>
        </p:nvSpPr>
        <p:spPr>
          <a:xfrm>
            <a:off x="5257800" y="4341905"/>
            <a:ext cx="6382512" cy="1967455"/>
          </a:xfrm>
          <a:prstGeom prst="roundRect">
            <a:avLst>
              <a:gd name="adj" fmla="val 5577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0"/>
          <p:cNvSpPr txBox="1"/>
          <p:nvPr/>
        </p:nvSpPr>
        <p:spPr>
          <a:xfrm>
            <a:off x="5522976" y="4506497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demuestran estas capturas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522976" y="4936265"/>
            <a:ext cx="5852160" cy="123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se convierte en campos editables de nombre y precio, sin duplicar campos.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activo muestra foco visible, útil para la navegación con teclado.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«Tu pedido» es independiente: editar un plato no modifica el pedido.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566928"/>
            <a:ext cx="6858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291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DEL EQUIPO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Retos y aprendizajes</a:t>
            </a:r>
            <a:endParaRPr lang="en-US" sz="3600" dirty="0"/>
          </a:p>
        </p:txBody>
      </p:sp>
      <p:sp>
        <p:nvSpPr>
          <p:cNvPr id="4" name="panel Retos"/>
          <p:cNvSpPr/>
          <p:nvPr/>
        </p:nvSpPr>
        <p:spPr>
          <a:xfrm>
            <a:off x="548640" y="1691640"/>
            <a:ext cx="5449824" cy="4617720"/>
          </a:xfrm>
          <a:prstGeom prst="roundRect">
            <a:avLst>
              <a:gd name="adj" fmla="val 2376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icono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20105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874520"/>
            <a:ext cx="4169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2578608"/>
            <a:ext cx="4901184" cy="0"/>
          </a:xfrm>
          <a:prstGeom prst="line">
            <a:avLst/>
          </a:prstGeom>
          <a:noFill/>
          <a:ln w="9525">
            <a:solidFill>
              <a:srgbClr val="E9E1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822960" y="2724912"/>
            <a:ext cx="365760" cy="36576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 txBox="1"/>
          <p:nvPr/>
        </p:nvSpPr>
        <p:spPr>
          <a:xfrm>
            <a:off x="82296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53312" y="2633472"/>
            <a:ext cx="4398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cuatro partes en un solo script.js</a:t>
            </a:r>
            <a:endParaRPr lang="en-US" sz="15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compañero trabajó su región; al hacer pull en develop surgieron conflictos.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3474720"/>
            <a:ext cx="4901184" cy="0"/>
          </a:xfrm>
          <a:prstGeom prst="line">
            <a:avLst/>
          </a:prstGeom>
          <a:noFill/>
          <a:ln w="9525">
            <a:solidFill>
              <a:srgbClr val="E9E1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822960" y="3621024"/>
            <a:ext cx="365760" cy="36576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 txBox="1"/>
          <p:nvPr/>
        </p:nvSpPr>
        <p:spPr>
          <a:xfrm>
            <a:off x="822960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353312" y="3529584"/>
            <a:ext cx="4398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incompatible con el HTML real</a:t>
            </a:r>
            <a:endParaRPr lang="en-US" sz="15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Apuntaba a IDs de un commit previo y generaba &lt;tr&gt; en vez de tarjetas .plato.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22960" y="4370832"/>
            <a:ext cx="4901184" cy="0"/>
          </a:xfrm>
          <a:prstGeom prst="line">
            <a:avLst/>
          </a:prstGeom>
          <a:noFill/>
          <a:ln w="9525">
            <a:solidFill>
              <a:srgbClr val="E9E1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822960" y="4517136"/>
            <a:ext cx="365760" cy="36576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 txBox="1"/>
          <p:nvPr/>
        </p:nvSpPr>
        <p:spPr>
          <a:xfrm>
            <a:off x="82296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353312" y="4425696"/>
            <a:ext cx="4398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Delegación de eventos frágil</a:t>
            </a:r>
            <a:endParaRPr lang="en-US" sz="15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parentElement.parentElement fallaba con clics en elementos internos del botón.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22960" y="5266944"/>
            <a:ext cx="4901184" cy="0"/>
          </a:xfrm>
          <a:prstGeom prst="line">
            <a:avLst/>
          </a:prstGeom>
          <a:noFill/>
          <a:ln w="9525">
            <a:solidFill>
              <a:srgbClr val="E9E1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822960" y="5413248"/>
            <a:ext cx="365760" cy="36576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 txBox="1"/>
          <p:nvPr/>
        </p:nvSpPr>
        <p:spPr>
          <a:xfrm>
            <a:off x="822960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353312" y="5321808"/>
            <a:ext cx="4398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precios correctamente</a:t>
            </a:r>
            <a:endParaRPr lang="en-US" sz="15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Vacío, espacios, Infinity y la precisión decimal (0.29, 1.10) rompían la validación.</a:t>
            </a:r>
            <a:endParaRPr lang="en-US" sz="1500" dirty="0"/>
          </a:p>
        </p:txBody>
      </p:sp>
      <p:sp>
        <p:nvSpPr>
          <p:cNvPr id="24" name="panel Aprendizajes"/>
          <p:cNvSpPr/>
          <p:nvPr/>
        </p:nvSpPr>
        <p:spPr>
          <a:xfrm>
            <a:off x="6190488" y="1691640"/>
            <a:ext cx="5449824" cy="4617720"/>
          </a:xfrm>
          <a:prstGeom prst="roundRect">
            <a:avLst>
              <a:gd name="adj" fmla="val 2376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icono"/>
          <p:cNvSpPr/>
          <p:nvPr/>
        </p:nvSpPr>
        <p:spPr>
          <a:xfrm>
            <a:off x="6464808" y="1874520"/>
            <a:ext cx="566928" cy="566928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1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71" y="2010583"/>
            <a:ext cx="294803" cy="294803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178040" y="1874520"/>
            <a:ext cx="4169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Aprendizajes</a:t>
            </a:r>
            <a:endParaRPr lang="en-US" sz="2400" dirty="0"/>
          </a:p>
        </p:txBody>
      </p:sp>
      <p:sp>
        <p:nvSpPr>
          <p:cNvPr id="28" name="Shape 24"/>
          <p:cNvSpPr/>
          <p:nvPr/>
        </p:nvSpPr>
        <p:spPr>
          <a:xfrm>
            <a:off x="6464808" y="2578608"/>
            <a:ext cx="4901184" cy="0"/>
          </a:xfrm>
          <a:prstGeom prst="line">
            <a:avLst/>
          </a:prstGeom>
          <a:noFill/>
          <a:ln w="9525">
            <a:solidFill>
              <a:srgbClr val="E9E1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5"/>
          <p:cNvSpPr/>
          <p:nvPr/>
        </p:nvSpPr>
        <p:spPr>
          <a:xfrm>
            <a:off x="6464808" y="2724912"/>
            <a:ext cx="365760" cy="365760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6"/>
          <p:cNvSpPr txBox="1"/>
          <p:nvPr/>
        </p:nvSpPr>
        <p:spPr>
          <a:xfrm>
            <a:off x="6464808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6995160" y="2633472"/>
            <a:ext cx="4398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compartido es un contrato</a:t>
            </a:r>
            <a:endParaRPr lang="en-US" sz="15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IDs, clases y funciones desde el inicio alinea al equipo y a la IA.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6464808" y="3474720"/>
            <a:ext cx="4901184" cy="0"/>
          </a:xfrm>
          <a:prstGeom prst="line">
            <a:avLst/>
          </a:prstGeom>
          <a:noFill/>
          <a:ln w="9525">
            <a:solidFill>
              <a:srgbClr val="E9E1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29"/>
          <p:cNvSpPr/>
          <p:nvPr/>
        </p:nvSpPr>
        <p:spPr>
          <a:xfrm>
            <a:off x="6464808" y="3621024"/>
            <a:ext cx="365760" cy="365760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0"/>
          <p:cNvSpPr txBox="1"/>
          <p:nvPr/>
        </p:nvSpPr>
        <p:spPr>
          <a:xfrm>
            <a:off x="6464808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6995160" y="3529584"/>
            <a:ext cx="4398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precisos y por etapas</a:t>
            </a:r>
            <a:endParaRPr lang="en-US" sz="15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qué hacer, qué no hacer y entregar paso a paso reduce errores.</a:t>
            </a:r>
            <a:endParaRPr lang="en-US" sz="1500" dirty="0"/>
          </a:p>
        </p:txBody>
      </p:sp>
      <p:sp>
        <p:nvSpPr>
          <p:cNvPr id="36" name="Shape 32"/>
          <p:cNvSpPr/>
          <p:nvPr/>
        </p:nvSpPr>
        <p:spPr>
          <a:xfrm>
            <a:off x="6464808" y="4370832"/>
            <a:ext cx="4901184" cy="0"/>
          </a:xfrm>
          <a:prstGeom prst="line">
            <a:avLst/>
          </a:prstGeom>
          <a:noFill/>
          <a:ln w="9525">
            <a:solidFill>
              <a:srgbClr val="E9E1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3"/>
          <p:cNvSpPr/>
          <p:nvPr/>
        </p:nvSpPr>
        <p:spPr>
          <a:xfrm>
            <a:off x="6464808" y="4517136"/>
            <a:ext cx="365760" cy="365760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4"/>
          <p:cNvSpPr txBox="1"/>
          <p:nvPr/>
        </p:nvSpPr>
        <p:spPr>
          <a:xfrm>
            <a:off x="6464808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6995160" y="4425696"/>
            <a:ext cx="4398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closest() + un solo listener</a:t>
            </a:r>
            <a:endParaRPr lang="en-US" sz="15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delegación de eventos hace el código robusto ante cambios del DOM.</a:t>
            </a:r>
            <a:endParaRPr lang="en-US" sz="1500" dirty="0"/>
          </a:p>
        </p:txBody>
      </p:sp>
      <p:sp>
        <p:nvSpPr>
          <p:cNvPr id="40" name="Shape 36"/>
          <p:cNvSpPr/>
          <p:nvPr/>
        </p:nvSpPr>
        <p:spPr>
          <a:xfrm>
            <a:off x="6464808" y="5266944"/>
            <a:ext cx="4901184" cy="0"/>
          </a:xfrm>
          <a:prstGeom prst="line">
            <a:avLst/>
          </a:prstGeom>
          <a:noFill/>
          <a:ln w="9525">
            <a:solidFill>
              <a:srgbClr val="E9E1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Shape 37"/>
          <p:cNvSpPr/>
          <p:nvPr/>
        </p:nvSpPr>
        <p:spPr>
          <a:xfrm>
            <a:off x="6464808" y="5413248"/>
            <a:ext cx="365760" cy="365760"/>
          </a:xfrm>
          <a:prstGeom prst="ellipse">
            <a:avLst/>
          </a:prstGeom>
          <a:solidFill>
            <a:srgbClr val="1F667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38"/>
          <p:cNvSpPr txBox="1"/>
          <p:nvPr/>
        </p:nvSpPr>
        <p:spPr>
          <a:xfrm>
            <a:off x="646480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39"/>
          <p:cNvSpPr txBox="1"/>
          <p:nvPr/>
        </p:nvSpPr>
        <p:spPr>
          <a:xfrm>
            <a:off x="6995160" y="5321808"/>
            <a:ext cx="4398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lo que genera la IA</a:t>
            </a:r>
            <a:endParaRPr lang="en-US" sz="15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la causa raíz y probar casos borde antes de integrar en develop.</a:t>
            </a:r>
            <a:endParaRPr lang="en-US" sz="15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566928"/>
            <a:ext cx="6858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ED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RESTAURANTE · PROYECTO 2 · FRONT 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6F2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Pino  ·  Juan Serna  ·  Darwin García  ·  Camila Tabares</a:t>
            </a:r>
            <a:endParaRPr lang="en-US" sz="1600" dirty="0"/>
          </a:p>
        </p:txBody>
      </p:sp>
      <p:sp>
        <p:nvSpPr>
          <p:cNvPr id="6" name="icono"/>
          <p:cNvSpPr/>
          <p:nvPr/>
        </p:nvSpPr>
        <p:spPr>
          <a:xfrm>
            <a:off x="8549640" y="2148840"/>
            <a:ext cx="2377440" cy="2377440"/>
          </a:xfrm>
          <a:prstGeom prst="ellipse">
            <a:avLst/>
          </a:prstGeom>
          <a:solidFill>
            <a:srgbClr val="B3161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226" y="2719426"/>
            <a:ext cx="1236269" cy="12362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nu Restaurante">
  <a:themeElements>
    <a:clrScheme name="Menu Restaurante">
      <a:dk1>
        <a:srgbClr val="1F2A2E"/>
      </a:dk1>
      <a:lt1>
        <a:srgbClr val="FFFFFF"/>
      </a:lt1>
      <a:dk2>
        <a:srgbClr val="123F4A"/>
      </a:dk2>
      <a:lt2>
        <a:srgbClr val="FBF7EF"/>
      </a:lt2>
      <a:accent1>
        <a:srgbClr val="B3161B"/>
      </a:accent1>
      <a:accent2>
        <a:srgbClr val="8ED1CF"/>
      </a:accent2>
      <a:accent3>
        <a:srgbClr val="1F6670"/>
      </a:accent3>
      <a:accent4>
        <a:srgbClr val="A0522D"/>
      </a:accent4>
      <a:accent5>
        <a:srgbClr val="E9E1D2"/>
      </a:accent5>
      <a:accent6>
        <a:srgbClr val="56666A"/>
      </a:accent6>
      <a:hlink>
        <a:srgbClr val="1F6670"/>
      </a:hlink>
      <a:folHlink>
        <a:srgbClr val="56666A"/>
      </a:folHlink>
    </a:clrScheme>
    <a:fontScheme name="Menu Restauran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1844</Words>
  <Application>Microsoft Office PowerPoint</Application>
  <PresentationFormat>Widescreen</PresentationFormat>
  <Paragraphs>224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Menu Restaurante</vt:lpstr>
      <vt:lpstr>PowerPoint Presentation</vt:lpstr>
      <vt:lpstr>¿Qué es DOM Traversing y cómo funciona?</vt:lpstr>
      <vt:lpstr>Cómo trabajamos: un prompt por etapa</vt:lpstr>
      <vt:lpstr>Prompt compartido: el contrato del proyecto</vt:lpstr>
      <vt:lpstr>HTML y CSS: estructura y diseño</vt:lpstr>
      <vt:lpstr>CRUD de platos: prompt inicial</vt:lpstr>
      <vt:lpstr>Depuración del CRUD con IA</vt:lpstr>
      <vt:lpstr>Pedido, delegación e integración</vt:lpstr>
      <vt:lpstr>Continuación: ajustes antes de integrar</vt:lpstr>
      <vt:lpstr>Evidencia: la aplicación funcionando</vt:lpstr>
      <vt:lpstr>Evidencia: edición en línea</vt:lpstr>
      <vt:lpstr>Retos y aprendizajes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Menú de Restaurante</dc:title>
  <dc:subject>PptxGenJS Presentation</dc:subject>
  <dc:creator>Equipo Proyecto 2 · Front I</dc:creator>
  <cp:lastModifiedBy>Samaris Saturno</cp:lastModifiedBy>
  <cp:revision>1</cp:revision>
  <dcterms:created xsi:type="dcterms:W3CDTF">2026-10-22T04:37:25Z</dcterms:created>
  <dcterms:modified xsi:type="dcterms:W3CDTF">2026-10-22T04:45:49Z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c327bf-1a6d-487c-b9fa-556350326860_Enabled">
    <vt:lpwstr>true</vt:lpwstr>
  </property>
  <property fmtid="{D5CDD505-2E9C-101B-9397-08002B2CF9AE}" pid="3" name="MSIP_Label_22c327bf-1a6d-487c-b9fa-556350326860_SetDate">
    <vt:lpwstr>2026-10-22T04:45:49Z</vt:lpwstr>
  </property>
  <property fmtid="{D5CDD505-2E9C-101B-9397-08002B2CF9AE}" pid="4" name="MSIP_Label_22c327bf-1a6d-487c-b9fa-556350326860_Method">
    <vt:lpwstr>Standard</vt:lpwstr>
  </property>
  <property fmtid="{D5CDD505-2E9C-101B-9397-08002B2CF9AE}" pid="5" name="MSIP_Label_22c327bf-1a6d-487c-b9fa-556350326860_Name">
    <vt:lpwstr>Internal</vt:lpwstr>
  </property>
  <property fmtid="{D5CDD505-2E9C-101B-9397-08002B2CF9AE}" pid="6" name="MSIP_Label_22c327bf-1a6d-487c-b9fa-556350326860_SiteId">
    <vt:lpwstr>37c5dbc3-1c29-4d29-a94c-b80eb57def93</vt:lpwstr>
  </property>
  <property fmtid="{D5CDD505-2E9C-101B-9397-08002B2CF9AE}" pid="7" name="MSIP_Label_22c327bf-1a6d-487c-b9fa-556350326860_ActionId">
    <vt:lpwstr>0ca0a32d-6253-4404-8ed5-dfc430cee2f0</vt:lpwstr>
  </property>
  <property fmtid="{D5CDD505-2E9C-101B-9397-08002B2CF9AE}" pid="8" name="MSIP_Label_22c327bf-1a6d-487c-b9fa-556350326860_ContentBits">
    <vt:lpwstr>0</vt:lpwstr>
  </property>
  <property fmtid="{D5CDD505-2E9C-101B-9397-08002B2CF9AE}" pid="9" name="MSIP_Label_22c327bf-1a6d-487c-b9fa-556350326860_Tag">
    <vt:lpwstr>10, 3, 0, 1</vt:lpwstr>
  </property>
</Properties>
</file>